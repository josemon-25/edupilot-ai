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5935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judges. Today we are proud to introduce EduPilot AI, an integrated educational platform engineered to bridge the gap between static course PDFs, adaptive AI tutoring, and structured study planning. Unlike generic chat tools that fabricate references, EduPilot AI focuses on genuine document grounding, helping students master complex technical concepts reliably.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college, students face four interrelated hurdles: course documents are scattered, generic AI tools regularly hallucinate citations, quizzes don't explain why a student misunderstood a concept, and study planning is rarely linked to actual performance data. EduPilot AI solves all four in a single unified system.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solution unifies the entire learning journey into four synchronized steps: Materials -&gt; Learn -&gt; Practice -&gt; Track. The AI Tutor only cites what is genuinely written in the uploaded document, and quiz evaluations dynamically update the student's study plan so weak areas get prioritized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six verified modules implemented in EduPilot AI: AI Tutor with grounded citations, PDF Materials Engine, Misconception Coach for diagnosing root errors, Practice Quizzes, Adaptive Study Planner, and Mastery Analytics. Every feature listed is backed by actual backend services and tested frontend components.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Judges, our architecture is built with real, production-ready libraries: React and Vite on the frontend, and Node.js and Express on the backend. For AI tutoring, we honestly disclose that the platform runs by default in a rich, deterministic Demo Mode so judges can test every feature without paid API keys, while also supporting a live Google Gemini integration when credentials are provided.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empirical, verified results from running our automated test suite. We don't invent numbers: all 20 backend unit tests, 6 regression tests, 4 tutor follow-up tests, and 11 live end-to-end HTTP tests have passed with zero errors. The AI Tutor's source grounding has been strictly verified against genuine PDFs.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EduPilot AI transforms passive studying into an active, evidence-grounded learning loop. Our future roadmap includes OCR for scanned slide decks and multi-subject syllabus trees. Thank you, esteemed judges, for your time. We are now excited to demonstrate EduPilot AI live and answer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09728" cy="41148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97280"/>
            <a:ext cx="10058400" cy="2926080"/>
          </a:xfrm>
          <a:prstGeom prst="rect">
            <a:avLst/>
          </a:prstGeom>
          <a:noFill/>
        </p:spPr>
        <p:txBody>
          <a:bodyPr wrap="square">
            <a:spAutoFit/>
          </a:bodyPr>
          <a:lstStyle/>
          <a:p>
            <a:pPr>
              <a:spcAft>
                <a:spcPts val="1400"/>
              </a:spcAft>
              <a:defRPr sz="1200" b="1">
                <a:solidFill>
                  <a:srgbClr val="06B6D4"/>
                </a:solidFill>
              </a:defRPr>
            </a:pPr>
            <a:r>
              <a:t>COLLEGE HACKATHON 2026 | AI &amp; EDTECH TRACK</a:t>
            </a:r>
          </a:p>
          <a:p>
            <a:pPr>
              <a:spcAft>
                <a:spcPts val="1000"/>
              </a:spcAft>
              <a:defRPr sz="4600" b="1">
                <a:solidFill>
                  <a:srgbClr val="FFFFFF"/>
                </a:solidFill>
              </a:defRPr>
            </a:pPr>
            <a:r>
              <a:t>EduPilot AI</a:t>
            </a:r>
          </a:p>
          <a:p>
            <a:pPr>
              <a:spcAft>
                <a:spcPts val="2400"/>
              </a:spcAft>
              <a:defRPr sz="2000">
                <a:solidFill>
                  <a:srgbClr val="94A3B8"/>
                </a:solidFill>
              </a:defRPr>
            </a:pPr>
            <a:r>
              <a:t>Grounded, Evidence-Backed AI Tutoring &amp; Adaptive Learning Platform</a:t>
            </a:r>
          </a:p>
          <a:p>
            <a:pPr>
              <a:defRPr sz="1400">
                <a:solidFill>
                  <a:srgbClr val="CBD5E1"/>
                </a:solidFill>
              </a:defRPr>
            </a:pPr>
            <a:r>
              <a:t>Empowering students with verified citation-backed PDF learning, misconception coaching, auto-scheduled study routines, and empirical mastery analytics.</a:t>
            </a:r>
          </a:p>
        </p:txBody>
      </p:sp>
      <p:sp>
        <p:nvSpPr>
          <p:cNvPr id="5" name="Rounded Rectangle 4"/>
          <p:cNvSpPr/>
          <p:nvPr/>
        </p:nvSpPr>
        <p:spPr>
          <a:xfrm>
            <a:off x="1097280" y="4846320"/>
            <a:ext cx="1005840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4983480"/>
            <a:ext cx="9509760" cy="538609"/>
          </a:xfrm>
          <a:prstGeom prst="rect">
            <a:avLst/>
          </a:prstGeom>
          <a:noFill/>
        </p:spPr>
        <p:txBody>
          <a:bodyPr wrap="square">
            <a:spAutoFit/>
          </a:bodyPr>
          <a:lstStyle/>
          <a:p>
            <a:pPr>
              <a:spcAft>
                <a:spcPts val="600"/>
              </a:spcAft>
              <a:defRPr sz="1100" b="1">
                <a:solidFill>
                  <a:srgbClr val="06B6D4"/>
                </a:solidFill>
              </a:defRPr>
            </a:pPr>
            <a:r>
              <a:rPr dirty="0"/>
              <a:t>PROJECT DETAILS &amp; TEAM</a:t>
            </a:r>
          </a:p>
          <a:p>
            <a:pPr>
              <a:defRPr sz="1300">
                <a:solidFill>
                  <a:srgbClr val="FFFFFF"/>
                </a:solidFill>
              </a:defRPr>
            </a:pPr>
            <a:r>
              <a:rPr dirty="0"/>
              <a:t>Category: AI-Powered Education (EdTech)   |   Team: </a:t>
            </a:r>
            <a:r>
              <a:rPr lang="en-IN" dirty="0"/>
              <a:t>SJ</a:t>
            </a:r>
            <a:r>
              <a:rPr dirty="0"/>
              <a:t>   |   Members: </a:t>
            </a:r>
            <a:r>
              <a:rPr lang="en-IN" dirty="0"/>
              <a:t>SREEDEV HRUSHIKESH,S5 IT | JOSEMON JAMES,S5 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058400" cy="365760"/>
          </a:xfrm>
          <a:prstGeom prst="rect">
            <a:avLst/>
          </a:prstGeom>
          <a:noFill/>
        </p:spPr>
        <p:txBody>
          <a:bodyPr wrap="square" lIns="0" tIns="0" rIns="0" bIns="0">
            <a:spAutoFit/>
          </a:bodyPr>
          <a:lstStyle/>
          <a:p>
            <a:pPr>
              <a:defRPr sz="1100" b="1">
                <a:solidFill>
                  <a:srgbClr val="2563EB"/>
                </a:solidFill>
              </a:defRPr>
            </a:pPr>
            <a:r>
              <a:t>PROBLEM STATEMENT</a:t>
            </a:r>
          </a:p>
        </p:txBody>
      </p:sp>
      <p:sp>
        <p:nvSpPr>
          <p:cNvPr id="4" name="TextBox 3"/>
          <p:cNvSpPr txBox="1"/>
          <p:nvPr/>
        </p:nvSpPr>
        <p:spPr>
          <a:xfrm>
            <a:off x="731520" y="685800"/>
            <a:ext cx="10058400" cy="594360"/>
          </a:xfrm>
          <a:prstGeom prst="rect">
            <a:avLst/>
          </a:prstGeom>
          <a:noFill/>
        </p:spPr>
        <p:txBody>
          <a:bodyPr wrap="square" lIns="0" tIns="0" rIns="0" bIns="0">
            <a:spAutoFit/>
          </a:bodyPr>
          <a:lstStyle/>
          <a:p>
            <a:pPr>
              <a:defRPr sz="2400" b="1">
                <a:solidFill>
                  <a:srgbClr val="0F172A"/>
                </a:solidFill>
              </a:defRPr>
            </a:pPr>
            <a:r>
              <a:t>The Real Challenges Facing University Students</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45920"/>
            <a:ext cx="25146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74520"/>
            <a:ext cx="2148840" cy="457200"/>
          </a:xfrm>
          <a:prstGeom prst="rect">
            <a:avLst/>
          </a:prstGeom>
          <a:noFill/>
        </p:spPr>
        <p:txBody>
          <a:bodyPr wrap="none">
            <a:spAutoFit/>
          </a:bodyPr>
          <a:lstStyle/>
          <a:p>
            <a:pPr>
              <a:defRPr sz="2800" b="1">
                <a:solidFill>
                  <a:srgbClr val="2563EB"/>
                </a:solidFill>
              </a:defRPr>
            </a:pPr>
            <a:r>
              <a:t>01</a:t>
            </a:r>
          </a:p>
        </p:txBody>
      </p:sp>
      <p:sp>
        <p:nvSpPr>
          <p:cNvPr id="8" name="TextBox 7"/>
          <p:cNvSpPr txBox="1"/>
          <p:nvPr/>
        </p:nvSpPr>
        <p:spPr>
          <a:xfrm>
            <a:off x="914400" y="2560320"/>
            <a:ext cx="2148840" cy="3291840"/>
          </a:xfrm>
          <a:prstGeom prst="rect">
            <a:avLst/>
          </a:prstGeom>
          <a:noFill/>
        </p:spPr>
        <p:txBody>
          <a:bodyPr wrap="square">
            <a:spAutoFit/>
          </a:bodyPr>
          <a:lstStyle/>
          <a:p>
            <a:pPr>
              <a:spcAft>
                <a:spcPts val="1200"/>
              </a:spcAft>
              <a:defRPr sz="1700" b="1">
                <a:solidFill>
                  <a:srgbClr val="0F172A"/>
                </a:solidFill>
              </a:defRPr>
            </a:pPr>
            <a:r>
              <a:t>Scattered Course Materials</a:t>
            </a:r>
          </a:p>
          <a:p>
            <a:pPr>
              <a:defRPr sz="1300">
                <a:solidFill>
                  <a:srgbClr val="64748B"/>
                </a:solidFill>
              </a:defRPr>
            </a:pPr>
            <a:r>
              <a:t>Lecture slides, professor PDFs, and personal notes live in isolated folders, making systematic exam revision slow and chaotic.</a:t>
            </a:r>
          </a:p>
        </p:txBody>
      </p:sp>
      <p:sp>
        <p:nvSpPr>
          <p:cNvPr id="9" name="Rounded Rectangle 8"/>
          <p:cNvSpPr/>
          <p:nvPr/>
        </p:nvSpPr>
        <p:spPr>
          <a:xfrm>
            <a:off x="3456432" y="1645920"/>
            <a:ext cx="25146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39312" y="1874520"/>
            <a:ext cx="2148840" cy="457200"/>
          </a:xfrm>
          <a:prstGeom prst="rect">
            <a:avLst/>
          </a:prstGeom>
          <a:noFill/>
        </p:spPr>
        <p:txBody>
          <a:bodyPr wrap="none">
            <a:spAutoFit/>
          </a:bodyPr>
          <a:lstStyle/>
          <a:p>
            <a:pPr>
              <a:defRPr sz="2800" b="1">
                <a:solidFill>
                  <a:srgbClr val="2563EB"/>
                </a:solidFill>
              </a:defRPr>
            </a:pPr>
            <a:r>
              <a:t>02</a:t>
            </a:r>
          </a:p>
        </p:txBody>
      </p:sp>
      <p:sp>
        <p:nvSpPr>
          <p:cNvPr id="11" name="TextBox 10"/>
          <p:cNvSpPr txBox="1"/>
          <p:nvPr/>
        </p:nvSpPr>
        <p:spPr>
          <a:xfrm>
            <a:off x="3639312" y="2560320"/>
            <a:ext cx="2148840" cy="3291840"/>
          </a:xfrm>
          <a:prstGeom prst="rect">
            <a:avLst/>
          </a:prstGeom>
          <a:noFill/>
        </p:spPr>
        <p:txBody>
          <a:bodyPr wrap="square">
            <a:spAutoFit/>
          </a:bodyPr>
          <a:lstStyle/>
          <a:p>
            <a:pPr>
              <a:spcAft>
                <a:spcPts val="1200"/>
              </a:spcAft>
              <a:defRPr sz="1700" b="1">
                <a:solidFill>
                  <a:srgbClr val="0F172A"/>
                </a:solidFill>
              </a:defRPr>
            </a:pPr>
            <a:r>
              <a:t>Unverified &amp; Hallucinatory AI</a:t>
            </a:r>
          </a:p>
          <a:p>
            <a:pPr>
              <a:defRPr sz="1300">
                <a:solidFill>
                  <a:srgbClr val="64748B"/>
                </a:solidFill>
              </a:defRPr>
            </a:pPr>
            <a:r>
              <a:t>Standard AI chatbots sound confident but fabricate citations, confusing students during revision of strict syllabus topics.</a:t>
            </a:r>
          </a:p>
        </p:txBody>
      </p:sp>
      <p:sp>
        <p:nvSpPr>
          <p:cNvPr id="12" name="Rounded Rectangle 11"/>
          <p:cNvSpPr/>
          <p:nvPr/>
        </p:nvSpPr>
        <p:spPr>
          <a:xfrm>
            <a:off x="6181344" y="1645920"/>
            <a:ext cx="25146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64224" y="1874520"/>
            <a:ext cx="2148840" cy="457200"/>
          </a:xfrm>
          <a:prstGeom prst="rect">
            <a:avLst/>
          </a:prstGeom>
          <a:noFill/>
        </p:spPr>
        <p:txBody>
          <a:bodyPr wrap="none">
            <a:spAutoFit/>
          </a:bodyPr>
          <a:lstStyle/>
          <a:p>
            <a:pPr>
              <a:defRPr sz="2800" b="1">
                <a:solidFill>
                  <a:srgbClr val="2563EB"/>
                </a:solidFill>
              </a:defRPr>
            </a:pPr>
            <a:r>
              <a:t>03</a:t>
            </a:r>
          </a:p>
        </p:txBody>
      </p:sp>
      <p:sp>
        <p:nvSpPr>
          <p:cNvPr id="14" name="TextBox 13"/>
          <p:cNvSpPr txBox="1"/>
          <p:nvPr/>
        </p:nvSpPr>
        <p:spPr>
          <a:xfrm>
            <a:off x="6364224" y="2560320"/>
            <a:ext cx="2148840" cy="3291840"/>
          </a:xfrm>
          <a:prstGeom prst="rect">
            <a:avLst/>
          </a:prstGeom>
          <a:noFill/>
        </p:spPr>
        <p:txBody>
          <a:bodyPr wrap="square">
            <a:spAutoFit/>
          </a:bodyPr>
          <a:lstStyle/>
          <a:p>
            <a:pPr>
              <a:spcAft>
                <a:spcPts val="1200"/>
              </a:spcAft>
              <a:defRPr sz="1700" b="1">
                <a:solidFill>
                  <a:srgbClr val="0F172A"/>
                </a:solidFill>
              </a:defRPr>
            </a:pPr>
            <a:r>
              <a:t>Disconnected Practice &amp; Revision</a:t>
            </a:r>
          </a:p>
          <a:p>
            <a:pPr>
              <a:defRPr sz="1300">
                <a:solidFill>
                  <a:srgbClr val="64748B"/>
                </a:solidFill>
              </a:defRPr>
            </a:pPr>
            <a:r>
              <a:t>Reading materials is passive. Practice quizzes rarely diagnose the underlying conceptual reason why a student chose an incorrect answer.</a:t>
            </a:r>
          </a:p>
        </p:txBody>
      </p:sp>
      <p:sp>
        <p:nvSpPr>
          <p:cNvPr id="15" name="Rounded Rectangle 14"/>
          <p:cNvSpPr/>
          <p:nvPr/>
        </p:nvSpPr>
        <p:spPr>
          <a:xfrm>
            <a:off x="8906256" y="1645920"/>
            <a:ext cx="25146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89136" y="1874520"/>
            <a:ext cx="2148840" cy="457200"/>
          </a:xfrm>
          <a:prstGeom prst="rect">
            <a:avLst/>
          </a:prstGeom>
          <a:noFill/>
        </p:spPr>
        <p:txBody>
          <a:bodyPr wrap="none">
            <a:spAutoFit/>
          </a:bodyPr>
          <a:lstStyle/>
          <a:p>
            <a:pPr>
              <a:defRPr sz="2800" b="1">
                <a:solidFill>
                  <a:srgbClr val="2563EB"/>
                </a:solidFill>
              </a:defRPr>
            </a:pPr>
            <a:r>
              <a:t>04</a:t>
            </a:r>
          </a:p>
        </p:txBody>
      </p:sp>
      <p:sp>
        <p:nvSpPr>
          <p:cNvPr id="17" name="TextBox 16"/>
          <p:cNvSpPr txBox="1"/>
          <p:nvPr/>
        </p:nvSpPr>
        <p:spPr>
          <a:xfrm>
            <a:off x="9089136" y="2560320"/>
            <a:ext cx="2148840" cy="3291840"/>
          </a:xfrm>
          <a:prstGeom prst="rect">
            <a:avLst/>
          </a:prstGeom>
          <a:noFill/>
        </p:spPr>
        <p:txBody>
          <a:bodyPr wrap="square">
            <a:spAutoFit/>
          </a:bodyPr>
          <a:lstStyle/>
          <a:p>
            <a:pPr>
              <a:spcAft>
                <a:spcPts val="1200"/>
              </a:spcAft>
              <a:defRPr sz="1700" b="1">
                <a:solidFill>
                  <a:srgbClr val="0F172A"/>
                </a:solidFill>
              </a:defRPr>
            </a:pPr>
            <a:r>
              <a:t>Inconsistent Study Planning</a:t>
            </a:r>
          </a:p>
          <a:p>
            <a:pPr>
              <a:defRPr sz="1300">
                <a:solidFill>
                  <a:srgbClr val="64748B"/>
                </a:solidFill>
              </a:defRPr>
            </a:pPr>
            <a:r>
              <a:t>Students struggle to allocate study hours dynamically based on which subjects have decayed in memory vs. which are mastered.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058400" cy="365760"/>
          </a:xfrm>
          <a:prstGeom prst="rect">
            <a:avLst/>
          </a:prstGeom>
          <a:noFill/>
        </p:spPr>
        <p:txBody>
          <a:bodyPr wrap="square" lIns="0" tIns="0" rIns="0" bIns="0">
            <a:spAutoFit/>
          </a:bodyPr>
          <a:lstStyle/>
          <a:p>
            <a:pPr>
              <a:defRPr sz="1100" b="1">
                <a:solidFill>
                  <a:srgbClr val="2563EB"/>
                </a:solidFill>
              </a:defRPr>
            </a:pPr>
            <a:r>
              <a:t>OUR SOLUTION</a:t>
            </a:r>
          </a:p>
        </p:txBody>
      </p:sp>
      <p:sp>
        <p:nvSpPr>
          <p:cNvPr id="4" name="TextBox 3"/>
          <p:cNvSpPr txBox="1"/>
          <p:nvPr/>
        </p:nvSpPr>
        <p:spPr>
          <a:xfrm>
            <a:off x="731520" y="685800"/>
            <a:ext cx="10058400" cy="594360"/>
          </a:xfrm>
          <a:prstGeom prst="rect">
            <a:avLst/>
          </a:prstGeom>
          <a:noFill/>
        </p:spPr>
        <p:txBody>
          <a:bodyPr wrap="square" lIns="0" tIns="0" rIns="0" bIns="0">
            <a:spAutoFit/>
          </a:bodyPr>
          <a:lstStyle/>
          <a:p>
            <a:pPr>
              <a:defRPr sz="2400" b="1">
                <a:solidFill>
                  <a:srgbClr val="0F172A"/>
                </a:solidFill>
              </a:defRPr>
            </a:pPr>
            <a:r>
              <a:t>EduPilot AI: An Integrated, Evidence-Backed Learning Hub</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10728655" cy="1051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91640"/>
            <a:ext cx="10149840" cy="777240"/>
          </a:xfrm>
          <a:prstGeom prst="rect">
            <a:avLst/>
          </a:prstGeom>
          <a:noFill/>
        </p:spPr>
        <p:txBody>
          <a:bodyPr wrap="square">
            <a:spAutoFit/>
          </a:bodyPr>
          <a:lstStyle/>
          <a:p>
            <a:pPr>
              <a:defRPr sz="1800" b="1">
                <a:solidFill>
                  <a:srgbClr val="06B6D4"/>
                </a:solidFill>
              </a:defRPr>
            </a:pPr>
            <a:r>
              <a:t>An End-to-End Learning Cycle Grounded in Verified Academic Truth</a:t>
            </a:r>
          </a:p>
          <a:p>
            <a:pPr>
              <a:defRPr sz="1300">
                <a:solidFill>
                  <a:srgbClr val="E2E8F0"/>
                </a:solidFill>
              </a:defRPr>
            </a:pPr>
            <a:r>
              <a:t>EduPilot AI combines local PDF text extraction, source-grounded tutoring, diagnostic misconception coaching, and automated study schedules into a continuous feedback loop.</a:t>
            </a:r>
          </a:p>
        </p:txBody>
      </p:sp>
      <p:sp>
        <p:nvSpPr>
          <p:cNvPr id="8" name="Rounded Rectangle 7"/>
          <p:cNvSpPr/>
          <p:nvPr/>
        </p:nvSpPr>
        <p:spPr>
          <a:xfrm>
            <a:off x="731520" y="2926080"/>
            <a:ext cx="2514600" cy="3200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154680"/>
            <a:ext cx="2148840" cy="2743200"/>
          </a:xfrm>
          <a:prstGeom prst="rect">
            <a:avLst/>
          </a:prstGeom>
          <a:noFill/>
        </p:spPr>
        <p:txBody>
          <a:bodyPr wrap="square">
            <a:spAutoFit/>
          </a:bodyPr>
          <a:lstStyle/>
          <a:p>
            <a:pPr>
              <a:spcAft>
                <a:spcPts val="400"/>
              </a:spcAft>
              <a:defRPr sz="1100" b="1">
                <a:solidFill>
                  <a:srgbClr val="2563EB"/>
                </a:solidFill>
              </a:defRPr>
            </a:pPr>
            <a:r>
              <a:t>STEP 1</a:t>
            </a:r>
          </a:p>
          <a:p>
            <a:pPr>
              <a:spcAft>
                <a:spcPts val="1000"/>
              </a:spcAft>
              <a:defRPr sz="1600" b="1">
                <a:solidFill>
                  <a:srgbClr val="0F172A"/>
                </a:solidFill>
              </a:defRPr>
            </a:pPr>
            <a:r>
              <a:t>Upload &amp; Ingest</a:t>
            </a:r>
          </a:p>
          <a:p>
            <a:pPr>
              <a:defRPr sz="1200">
                <a:solidFill>
                  <a:srgbClr val="64748B"/>
                </a:solidFill>
              </a:defRPr>
            </a:pPr>
            <a:r>
              <a:t>Upload course PDFs with strict 10MB validation and per-page semantic passage parsing.</a:t>
            </a:r>
          </a:p>
        </p:txBody>
      </p:sp>
      <p:sp>
        <p:nvSpPr>
          <p:cNvPr id="10" name="Rounded Rectangle 9"/>
          <p:cNvSpPr/>
          <p:nvPr/>
        </p:nvSpPr>
        <p:spPr>
          <a:xfrm>
            <a:off x="3456432" y="2926080"/>
            <a:ext cx="2514600" cy="3200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39312" y="3154680"/>
            <a:ext cx="2148840" cy="2743200"/>
          </a:xfrm>
          <a:prstGeom prst="rect">
            <a:avLst/>
          </a:prstGeom>
          <a:noFill/>
        </p:spPr>
        <p:txBody>
          <a:bodyPr wrap="square">
            <a:spAutoFit/>
          </a:bodyPr>
          <a:lstStyle/>
          <a:p>
            <a:pPr>
              <a:spcAft>
                <a:spcPts val="400"/>
              </a:spcAft>
              <a:defRPr sz="1100" b="1">
                <a:solidFill>
                  <a:srgbClr val="2563EB"/>
                </a:solidFill>
              </a:defRPr>
            </a:pPr>
            <a:r>
              <a:t>STEP 2</a:t>
            </a:r>
          </a:p>
          <a:p>
            <a:pPr>
              <a:spcAft>
                <a:spcPts val="1000"/>
              </a:spcAft>
              <a:defRPr sz="1600" b="1">
                <a:solidFill>
                  <a:srgbClr val="0F172A"/>
                </a:solidFill>
              </a:defRPr>
            </a:pPr>
            <a:r>
              <a:t>Learn with AI Tutor</a:t>
            </a:r>
          </a:p>
          <a:p>
            <a:pPr>
              <a:defRPr sz="1200">
                <a:solidFill>
                  <a:srgbClr val="64748B"/>
                </a:solidFill>
              </a:defRPr>
            </a:pPr>
            <a:r>
              <a:t>Ask questions verified against specific page references with zero false-citation hallucination.</a:t>
            </a:r>
          </a:p>
        </p:txBody>
      </p:sp>
      <p:sp>
        <p:nvSpPr>
          <p:cNvPr id="12" name="Rounded Rectangle 11"/>
          <p:cNvSpPr/>
          <p:nvPr/>
        </p:nvSpPr>
        <p:spPr>
          <a:xfrm>
            <a:off x="6181344" y="2926080"/>
            <a:ext cx="2514600" cy="3200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64224" y="3154680"/>
            <a:ext cx="2148840" cy="2743200"/>
          </a:xfrm>
          <a:prstGeom prst="rect">
            <a:avLst/>
          </a:prstGeom>
          <a:noFill/>
        </p:spPr>
        <p:txBody>
          <a:bodyPr wrap="square">
            <a:spAutoFit/>
          </a:bodyPr>
          <a:lstStyle/>
          <a:p>
            <a:pPr>
              <a:spcAft>
                <a:spcPts val="400"/>
              </a:spcAft>
              <a:defRPr sz="1100" b="1">
                <a:solidFill>
                  <a:srgbClr val="2563EB"/>
                </a:solidFill>
              </a:defRPr>
            </a:pPr>
            <a:r>
              <a:t>STEP 3</a:t>
            </a:r>
          </a:p>
          <a:p>
            <a:pPr>
              <a:spcAft>
                <a:spcPts val="1000"/>
              </a:spcAft>
              <a:defRPr sz="1600" b="1">
                <a:solidFill>
                  <a:srgbClr val="0F172A"/>
                </a:solidFill>
              </a:defRPr>
            </a:pPr>
            <a:r>
              <a:t>Practice &amp; Diagnose</a:t>
            </a:r>
          </a:p>
          <a:p>
            <a:pPr>
              <a:defRPr sz="1200">
                <a:solidFill>
                  <a:srgbClr val="64748B"/>
                </a:solidFill>
              </a:defRPr>
            </a:pPr>
            <a:r>
              <a:t>Take quizzes with Misconception Coach follow-ups testing the exact root misconception.</a:t>
            </a:r>
          </a:p>
        </p:txBody>
      </p:sp>
      <p:sp>
        <p:nvSpPr>
          <p:cNvPr id="14" name="Rounded Rectangle 13"/>
          <p:cNvSpPr/>
          <p:nvPr/>
        </p:nvSpPr>
        <p:spPr>
          <a:xfrm>
            <a:off x="8906256" y="2926080"/>
            <a:ext cx="2514600" cy="32004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89136" y="3154680"/>
            <a:ext cx="2148840" cy="2743200"/>
          </a:xfrm>
          <a:prstGeom prst="rect">
            <a:avLst/>
          </a:prstGeom>
          <a:noFill/>
        </p:spPr>
        <p:txBody>
          <a:bodyPr wrap="square">
            <a:spAutoFit/>
          </a:bodyPr>
          <a:lstStyle/>
          <a:p>
            <a:pPr>
              <a:spcAft>
                <a:spcPts val="400"/>
              </a:spcAft>
              <a:defRPr sz="1100" b="1">
                <a:solidFill>
                  <a:srgbClr val="2563EB"/>
                </a:solidFill>
              </a:defRPr>
            </a:pPr>
            <a:r>
              <a:t>STEP 4</a:t>
            </a:r>
          </a:p>
          <a:p>
            <a:pPr>
              <a:spcAft>
                <a:spcPts val="1000"/>
              </a:spcAft>
              <a:defRPr sz="1600" b="1">
                <a:solidFill>
                  <a:srgbClr val="0F172A"/>
                </a:solidFill>
              </a:defRPr>
            </a:pPr>
            <a:r>
              <a:t>Track &amp; Plan</a:t>
            </a:r>
          </a:p>
          <a:p>
            <a:pPr>
              <a:defRPr sz="1200">
                <a:solidFill>
                  <a:srgbClr val="64748B"/>
                </a:solidFill>
              </a:defRPr>
            </a:pPr>
            <a:r>
              <a:t>View decay-weighted mastery analytics and follow dynamic daily study allocation.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058400" cy="365760"/>
          </a:xfrm>
          <a:prstGeom prst="rect">
            <a:avLst/>
          </a:prstGeom>
          <a:noFill/>
        </p:spPr>
        <p:txBody>
          <a:bodyPr wrap="square" lIns="0" tIns="0" rIns="0" bIns="0">
            <a:spAutoFit/>
          </a:bodyPr>
          <a:lstStyle/>
          <a:p>
            <a:pPr>
              <a:defRPr sz="1100" b="1">
                <a:solidFill>
                  <a:srgbClr val="2563EB"/>
                </a:solidFill>
              </a:defRPr>
            </a:pPr>
            <a:r>
              <a:t>KEY FEATURES &amp; CAPABILITIES</a:t>
            </a:r>
          </a:p>
        </p:txBody>
      </p:sp>
      <p:sp>
        <p:nvSpPr>
          <p:cNvPr id="4" name="TextBox 3"/>
          <p:cNvSpPr txBox="1"/>
          <p:nvPr/>
        </p:nvSpPr>
        <p:spPr>
          <a:xfrm>
            <a:off x="731520" y="685800"/>
            <a:ext cx="10058400" cy="594360"/>
          </a:xfrm>
          <a:prstGeom prst="rect">
            <a:avLst/>
          </a:prstGeom>
          <a:noFill/>
        </p:spPr>
        <p:txBody>
          <a:bodyPr wrap="square" lIns="0" tIns="0" rIns="0" bIns="0">
            <a:spAutoFit/>
          </a:bodyPr>
          <a:lstStyle/>
          <a:p>
            <a:pPr>
              <a:defRPr sz="2400" b="1">
                <a:solidFill>
                  <a:srgbClr val="0F172A"/>
                </a:solidFill>
              </a:defRPr>
            </a:pPr>
            <a:r>
              <a:t>Core Functional Modules in EduPilot AI</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3401568"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783080"/>
            <a:ext cx="2944368" cy="1920240"/>
          </a:xfrm>
          <a:prstGeom prst="rect">
            <a:avLst/>
          </a:prstGeom>
          <a:noFill/>
        </p:spPr>
        <p:txBody>
          <a:bodyPr wrap="square">
            <a:spAutoFit/>
          </a:bodyPr>
          <a:lstStyle/>
          <a:p>
            <a:pPr>
              <a:spcAft>
                <a:spcPts val="800"/>
              </a:spcAft>
              <a:defRPr sz="1600" b="1">
                <a:solidFill>
                  <a:srgbClr val="0F172A"/>
                </a:solidFill>
              </a:defRPr>
            </a:pPr>
            <a:r>
              <a:t>AI Tutor &amp; Citations</a:t>
            </a:r>
          </a:p>
          <a:p>
            <a:pPr>
              <a:defRPr sz="1200">
                <a:solidFill>
                  <a:srgbClr val="64748B"/>
                </a:solidFill>
              </a:defRPr>
            </a:pPr>
            <a:r>
              <a:t>Source-grounded tutor citing verified document pages with strict 'Insufficient Document Evidence' rejection rules to prevent AI hallucination.</a:t>
            </a:r>
          </a:p>
        </p:txBody>
      </p:sp>
      <p:sp>
        <p:nvSpPr>
          <p:cNvPr id="8" name="Rounded Rectangle 7"/>
          <p:cNvSpPr/>
          <p:nvPr/>
        </p:nvSpPr>
        <p:spPr>
          <a:xfrm>
            <a:off x="4389120" y="1600200"/>
            <a:ext cx="3401568"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1783080"/>
            <a:ext cx="2944368" cy="1920240"/>
          </a:xfrm>
          <a:prstGeom prst="rect">
            <a:avLst/>
          </a:prstGeom>
          <a:noFill/>
        </p:spPr>
        <p:txBody>
          <a:bodyPr wrap="square">
            <a:spAutoFit/>
          </a:bodyPr>
          <a:lstStyle/>
          <a:p>
            <a:pPr>
              <a:spcAft>
                <a:spcPts val="800"/>
              </a:spcAft>
              <a:defRPr sz="1600" b="1">
                <a:solidFill>
                  <a:srgbClr val="0F172A"/>
                </a:solidFill>
              </a:defRPr>
            </a:pPr>
            <a:r>
              <a:t>PDF Materials Engine</a:t>
            </a:r>
          </a:p>
          <a:p>
            <a:pPr>
              <a:defRPr sz="1200">
                <a:solidFill>
                  <a:srgbClr val="64748B"/>
                </a:solidFill>
              </a:defRPr>
            </a:pPr>
            <a:r>
              <a:t>Fast digital text extraction via pdf-parse v1.1.4, per-page semantic paragraph segmentation, and automatic image-only scanned slide detection.</a:t>
            </a:r>
          </a:p>
        </p:txBody>
      </p:sp>
      <p:sp>
        <p:nvSpPr>
          <p:cNvPr id="10" name="Rounded Rectangle 9"/>
          <p:cNvSpPr/>
          <p:nvPr/>
        </p:nvSpPr>
        <p:spPr>
          <a:xfrm>
            <a:off x="8046720" y="1600200"/>
            <a:ext cx="3401568"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783080"/>
            <a:ext cx="2944368" cy="1920240"/>
          </a:xfrm>
          <a:prstGeom prst="rect">
            <a:avLst/>
          </a:prstGeom>
          <a:noFill/>
        </p:spPr>
        <p:txBody>
          <a:bodyPr wrap="square">
            <a:spAutoFit/>
          </a:bodyPr>
          <a:lstStyle/>
          <a:p>
            <a:pPr>
              <a:spcAft>
                <a:spcPts val="800"/>
              </a:spcAft>
              <a:defRPr sz="1600" b="1">
                <a:solidFill>
                  <a:srgbClr val="0F172A"/>
                </a:solidFill>
              </a:defRPr>
            </a:pPr>
            <a:r>
              <a:t>Misconception Coach</a:t>
            </a:r>
          </a:p>
          <a:p>
            <a:pPr>
              <a:defRPr sz="1200">
                <a:solidFill>
                  <a:srgbClr val="64748B"/>
                </a:solidFill>
              </a:defRPr>
            </a:pPr>
            <a:r>
              <a:t>Server-side diagnostic engine that diagnoses why an option was chosen, frames a pedagogical hypothesis, and generates a targeted follow-up retest.</a:t>
            </a:r>
          </a:p>
        </p:txBody>
      </p:sp>
      <p:sp>
        <p:nvSpPr>
          <p:cNvPr id="12" name="Rounded Rectangle 11"/>
          <p:cNvSpPr/>
          <p:nvPr/>
        </p:nvSpPr>
        <p:spPr>
          <a:xfrm>
            <a:off x="731520" y="4023360"/>
            <a:ext cx="3401568"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206240"/>
            <a:ext cx="2944368" cy="1920240"/>
          </a:xfrm>
          <a:prstGeom prst="rect">
            <a:avLst/>
          </a:prstGeom>
          <a:noFill/>
        </p:spPr>
        <p:txBody>
          <a:bodyPr wrap="square">
            <a:spAutoFit/>
          </a:bodyPr>
          <a:lstStyle/>
          <a:p>
            <a:pPr>
              <a:spcAft>
                <a:spcPts val="800"/>
              </a:spcAft>
              <a:defRPr sz="1600" b="1">
                <a:solidFill>
                  <a:srgbClr val="0F172A"/>
                </a:solidFill>
              </a:defRPr>
            </a:pPr>
            <a:r>
              <a:t>Practice Quizzes</a:t>
            </a:r>
          </a:p>
          <a:p>
            <a:pPr>
              <a:defRPr sz="1200">
                <a:solidFill>
                  <a:srgbClr val="64748B"/>
                </a:solidFill>
              </a:defRPr>
            </a:pPr>
            <a:r>
              <a:t>Dynamic topic quizzes, immediate answer evaluation, detailed invariant explanations, and automated attempt logging in the local store.</a:t>
            </a:r>
          </a:p>
        </p:txBody>
      </p:sp>
      <p:sp>
        <p:nvSpPr>
          <p:cNvPr id="14" name="Rounded Rectangle 13"/>
          <p:cNvSpPr/>
          <p:nvPr/>
        </p:nvSpPr>
        <p:spPr>
          <a:xfrm>
            <a:off x="4389120" y="4023360"/>
            <a:ext cx="3401568"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17720" y="4206240"/>
            <a:ext cx="2944368" cy="1920240"/>
          </a:xfrm>
          <a:prstGeom prst="rect">
            <a:avLst/>
          </a:prstGeom>
          <a:noFill/>
        </p:spPr>
        <p:txBody>
          <a:bodyPr wrap="square">
            <a:spAutoFit/>
          </a:bodyPr>
          <a:lstStyle/>
          <a:p>
            <a:pPr>
              <a:spcAft>
                <a:spcPts val="800"/>
              </a:spcAft>
              <a:defRPr sz="1600" b="1">
                <a:solidFill>
                  <a:srgbClr val="0F172A"/>
                </a:solidFill>
              </a:defRPr>
            </a:pPr>
            <a:r>
              <a:t>Adaptive Study Planner</a:t>
            </a:r>
          </a:p>
          <a:p>
            <a:pPr>
              <a:defRPr sz="1200">
                <a:solidFill>
                  <a:srgbClr val="64748B"/>
                </a:solidFill>
              </a:defRPr>
            </a:pPr>
            <a:r>
              <a:t>Calculates daily study capacity, prioritizes decaying topics and lowest-accuracy subjects, and generates manageable daily task checklists.</a:t>
            </a:r>
          </a:p>
        </p:txBody>
      </p:sp>
      <p:sp>
        <p:nvSpPr>
          <p:cNvPr id="16" name="Rounded Rectangle 15"/>
          <p:cNvSpPr/>
          <p:nvPr/>
        </p:nvSpPr>
        <p:spPr>
          <a:xfrm>
            <a:off x="8046720" y="4023360"/>
            <a:ext cx="3401568"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4206240"/>
            <a:ext cx="2944368" cy="1920240"/>
          </a:xfrm>
          <a:prstGeom prst="rect">
            <a:avLst/>
          </a:prstGeom>
          <a:noFill/>
        </p:spPr>
        <p:txBody>
          <a:bodyPr wrap="square">
            <a:spAutoFit/>
          </a:bodyPr>
          <a:lstStyle/>
          <a:p>
            <a:pPr>
              <a:spcAft>
                <a:spcPts val="800"/>
              </a:spcAft>
              <a:defRPr sz="1600" b="1">
                <a:solidFill>
                  <a:srgbClr val="0F172A"/>
                </a:solidFill>
              </a:defRPr>
            </a:pPr>
            <a:r>
              <a:t>Mastery Analytics</a:t>
            </a:r>
          </a:p>
          <a:p>
            <a:pPr>
              <a:defRPr sz="1200">
                <a:solidFill>
                  <a:srgbClr val="64748B"/>
                </a:solidFill>
              </a:defRPr>
            </a:pPr>
            <a:r>
              <a:t>Visual progress tracking categorized into Needs Attention (&lt;50%), Developing (50-74%), and Strong (&gt;=75%) with Pre vs Post revision deltas.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058400" cy="365760"/>
          </a:xfrm>
          <a:prstGeom prst="rect">
            <a:avLst/>
          </a:prstGeom>
          <a:noFill/>
        </p:spPr>
        <p:txBody>
          <a:bodyPr wrap="square" lIns="0" tIns="0" rIns="0" bIns="0">
            <a:spAutoFit/>
          </a:bodyPr>
          <a:lstStyle/>
          <a:p>
            <a:pPr>
              <a:defRPr sz="1100" b="1">
                <a:solidFill>
                  <a:srgbClr val="2563EB"/>
                </a:solidFill>
              </a:defRPr>
            </a:pPr>
            <a:r>
              <a:t>TECHNOLOGY STACK &amp; ARCHITECTURE</a:t>
            </a:r>
          </a:p>
        </p:txBody>
      </p:sp>
      <p:sp>
        <p:nvSpPr>
          <p:cNvPr id="4" name="TextBox 3"/>
          <p:cNvSpPr txBox="1"/>
          <p:nvPr/>
        </p:nvSpPr>
        <p:spPr>
          <a:xfrm>
            <a:off x="731520" y="685800"/>
            <a:ext cx="10058400" cy="594360"/>
          </a:xfrm>
          <a:prstGeom prst="rect">
            <a:avLst/>
          </a:prstGeom>
          <a:noFill/>
        </p:spPr>
        <p:txBody>
          <a:bodyPr wrap="square" lIns="0" tIns="0" rIns="0" bIns="0">
            <a:spAutoFit/>
          </a:bodyPr>
          <a:lstStyle/>
          <a:p>
            <a:pPr>
              <a:defRPr sz="2400" b="1">
                <a:solidFill>
                  <a:srgbClr val="0F172A"/>
                </a:solidFill>
              </a:defRPr>
            </a:pPr>
            <a:r>
              <a:t>System Architecture &amp; Actual Technology Stack</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08760"/>
            <a:ext cx="10728655" cy="10972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10332720" cy="914400"/>
          </a:xfrm>
          <a:prstGeom prst="rect">
            <a:avLst/>
          </a:prstGeom>
          <a:noFill/>
        </p:spPr>
        <p:txBody>
          <a:bodyPr wrap="square">
            <a:spAutoFit/>
          </a:bodyPr>
          <a:lstStyle/>
          <a:p>
            <a:pPr>
              <a:spcAft>
                <a:spcPts val="400"/>
              </a:spcAft>
              <a:defRPr sz="1100" b="1">
                <a:solidFill>
                  <a:srgbClr val="06B6D4"/>
                </a:solidFill>
              </a:defRPr>
            </a:pPr>
            <a:r>
              <a:t>DATA &amp; INFERENCE FLOW:</a:t>
            </a:r>
          </a:p>
          <a:p>
            <a:pPr>
              <a:defRPr sz="1400" b="1">
                <a:solidFill>
                  <a:srgbClr val="FFFFFF"/>
                </a:solidFill>
              </a:defRPr>
            </a:pPr>
            <a:r>
              <a:t>Student User  --&gt;  React / Vite Frontend  --&gt;  Express REST API  --&gt;  PDF Extraction &amp; Grounding  --&gt;  Store Persistence  --&gt;  Verified Response</a:t>
            </a:r>
          </a:p>
        </p:txBody>
      </p:sp>
      <p:sp>
        <p:nvSpPr>
          <p:cNvPr id="8" name="Rounded Rectangle 7"/>
          <p:cNvSpPr/>
          <p:nvPr/>
        </p:nvSpPr>
        <p:spPr>
          <a:xfrm>
            <a:off x="731520" y="2834640"/>
            <a:ext cx="3401568"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3017520"/>
            <a:ext cx="2944368" cy="3108960"/>
          </a:xfrm>
          <a:prstGeom prst="rect">
            <a:avLst/>
          </a:prstGeom>
          <a:noFill/>
        </p:spPr>
        <p:txBody>
          <a:bodyPr wrap="square">
            <a:spAutoFit/>
          </a:bodyPr>
          <a:lstStyle/>
          <a:p>
            <a:pPr>
              <a:spcAft>
                <a:spcPts val="1000"/>
              </a:spcAft>
              <a:defRPr sz="1600" b="1">
                <a:solidFill>
                  <a:srgbClr val="2563EB"/>
                </a:solidFill>
              </a:defRPr>
            </a:pPr>
            <a:r>
              <a:t>Frontend Architecture</a:t>
            </a:r>
          </a:p>
          <a:p>
            <a:pPr>
              <a:spcAft>
                <a:spcPts val="400"/>
              </a:spcAft>
              <a:defRPr sz="1100" b="1">
                <a:solidFill>
                  <a:srgbClr val="0F172A"/>
                </a:solidFill>
              </a:defRPr>
            </a:pPr>
            <a:r>
              <a:t>Framework: </a:t>
            </a:r>
          </a:p>
          <a:p>
            <a:pPr>
              <a:spcAft>
                <a:spcPts val="600"/>
              </a:spcAft>
              <a:defRPr sz="1100">
                <a:solidFill>
                  <a:srgbClr val="64748B"/>
                </a:solidFill>
              </a:defRPr>
            </a:pPr>
            <a:r>
              <a:t>  React 18 with Vite for high-speed HMR</a:t>
            </a:r>
          </a:p>
          <a:p>
            <a:pPr>
              <a:spcAft>
                <a:spcPts val="400"/>
              </a:spcAft>
              <a:defRPr sz="1100" b="1">
                <a:solidFill>
                  <a:srgbClr val="0F172A"/>
                </a:solidFill>
              </a:defRPr>
            </a:pPr>
            <a:r>
              <a:t>Styling: </a:t>
            </a:r>
          </a:p>
          <a:p>
            <a:pPr>
              <a:spcAft>
                <a:spcPts val="600"/>
              </a:spcAft>
              <a:defRPr sz="1100">
                <a:solidFill>
                  <a:srgbClr val="64748B"/>
                </a:solidFill>
              </a:defRPr>
            </a:pPr>
            <a:r>
              <a:t>  Tailwind CSS + Lucide React icon suite</a:t>
            </a:r>
          </a:p>
          <a:p>
            <a:pPr>
              <a:spcAft>
                <a:spcPts val="400"/>
              </a:spcAft>
              <a:defRPr sz="1100" b="1">
                <a:solidFill>
                  <a:srgbClr val="0F172A"/>
                </a:solidFill>
              </a:defRPr>
            </a:pPr>
            <a:r>
              <a:t>State &amp; Routing: </a:t>
            </a:r>
          </a:p>
          <a:p>
            <a:pPr>
              <a:spcAft>
                <a:spcPts val="600"/>
              </a:spcAft>
              <a:defRPr sz="1100">
                <a:solidFill>
                  <a:srgbClr val="64748B"/>
                </a:solidFill>
              </a:defRPr>
            </a:pPr>
            <a:r>
              <a:t>  React hooks, local storage sync, SPA views</a:t>
            </a:r>
          </a:p>
          <a:p>
            <a:pPr>
              <a:spcAft>
                <a:spcPts val="400"/>
              </a:spcAft>
              <a:defRPr sz="1100" b="1">
                <a:solidFill>
                  <a:srgbClr val="0F172A"/>
                </a:solidFill>
              </a:defRPr>
            </a:pPr>
            <a:r>
              <a:t>Design: </a:t>
            </a:r>
          </a:p>
          <a:p>
            <a:pPr>
              <a:spcAft>
                <a:spcPts val="600"/>
              </a:spcAft>
              <a:defRPr sz="1100">
                <a:solidFill>
                  <a:srgbClr val="64748B"/>
                </a:solidFill>
              </a:defRPr>
            </a:pPr>
            <a:r>
              <a:t>  Clean responsive layout with accessible controls</a:t>
            </a:r>
          </a:p>
        </p:txBody>
      </p:sp>
      <p:sp>
        <p:nvSpPr>
          <p:cNvPr id="10" name="Rounded Rectangle 9"/>
          <p:cNvSpPr/>
          <p:nvPr/>
        </p:nvSpPr>
        <p:spPr>
          <a:xfrm>
            <a:off x="4389120" y="2834640"/>
            <a:ext cx="3401568"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3017520"/>
            <a:ext cx="2944368" cy="3108960"/>
          </a:xfrm>
          <a:prstGeom prst="rect">
            <a:avLst/>
          </a:prstGeom>
          <a:noFill/>
        </p:spPr>
        <p:txBody>
          <a:bodyPr wrap="square">
            <a:spAutoFit/>
          </a:bodyPr>
          <a:lstStyle/>
          <a:p>
            <a:pPr>
              <a:spcAft>
                <a:spcPts val="1000"/>
              </a:spcAft>
              <a:defRPr sz="1600" b="1">
                <a:solidFill>
                  <a:srgbClr val="2563EB"/>
                </a:solidFill>
              </a:defRPr>
            </a:pPr>
            <a:r>
              <a:t>Backend &amp; Ingestion</a:t>
            </a:r>
          </a:p>
          <a:p>
            <a:pPr>
              <a:spcAft>
                <a:spcPts val="400"/>
              </a:spcAft>
              <a:defRPr sz="1100" b="1">
                <a:solidFill>
                  <a:srgbClr val="0F172A"/>
                </a:solidFill>
              </a:defRPr>
            </a:pPr>
            <a:r>
              <a:t>Server: </a:t>
            </a:r>
          </a:p>
          <a:p>
            <a:pPr>
              <a:spcAft>
                <a:spcPts val="600"/>
              </a:spcAft>
              <a:defRPr sz="1100">
                <a:solidFill>
                  <a:srgbClr val="64748B"/>
                </a:solidFill>
              </a:defRPr>
            </a:pPr>
            <a:r>
              <a:t>  Node.js (v22 ESM) + Express REST API</a:t>
            </a:r>
          </a:p>
          <a:p>
            <a:pPr>
              <a:spcAft>
                <a:spcPts val="400"/>
              </a:spcAft>
              <a:defRPr sz="1100" b="1">
                <a:solidFill>
                  <a:srgbClr val="0F172A"/>
                </a:solidFill>
              </a:defRPr>
            </a:pPr>
            <a:r>
              <a:t>PDF Parser: </a:t>
            </a:r>
          </a:p>
          <a:p>
            <a:pPr>
              <a:spcAft>
                <a:spcPts val="600"/>
              </a:spcAft>
              <a:defRPr sz="1100">
                <a:solidFill>
                  <a:srgbClr val="64748B"/>
                </a:solidFill>
              </a:defRPr>
            </a:pPr>
            <a:r>
              <a:t>  pdf-parse v1.1.4 with custom pagerender</a:t>
            </a:r>
          </a:p>
          <a:p>
            <a:pPr>
              <a:spcAft>
                <a:spcPts val="400"/>
              </a:spcAft>
              <a:defRPr sz="1100" b="1">
                <a:solidFill>
                  <a:srgbClr val="0F172A"/>
                </a:solidFill>
              </a:defRPr>
            </a:pPr>
            <a:r>
              <a:t>Validation: </a:t>
            </a:r>
          </a:p>
          <a:p>
            <a:pPr>
              <a:spcAft>
                <a:spcPts val="600"/>
              </a:spcAft>
              <a:defRPr sz="1100">
                <a:solidFill>
                  <a:srgbClr val="64748B"/>
                </a:solidFill>
              </a:defRPr>
            </a:pPr>
            <a:r>
              <a:t>  10MB file limit, MIME &amp; header verification</a:t>
            </a:r>
          </a:p>
          <a:p>
            <a:pPr>
              <a:spcAft>
                <a:spcPts val="400"/>
              </a:spcAft>
              <a:defRPr sz="1100" b="1">
                <a:solidFill>
                  <a:srgbClr val="0F172A"/>
                </a:solidFill>
              </a:defRPr>
            </a:pPr>
            <a:r>
              <a:t>Grounding: </a:t>
            </a:r>
          </a:p>
          <a:p>
            <a:pPr>
              <a:spcAft>
                <a:spcPts val="600"/>
              </a:spcAft>
              <a:defRPr sz="1100">
                <a:solidFill>
                  <a:srgbClr val="64748B"/>
                </a:solidFill>
              </a:defRPr>
            </a:pPr>
            <a:r>
              <a:t>  Semantic passage chunking &amp; keyword invariant checks</a:t>
            </a:r>
          </a:p>
        </p:txBody>
      </p:sp>
      <p:sp>
        <p:nvSpPr>
          <p:cNvPr id="12" name="Rounded Rectangle 11"/>
          <p:cNvSpPr/>
          <p:nvPr/>
        </p:nvSpPr>
        <p:spPr>
          <a:xfrm>
            <a:off x="8046720" y="2834640"/>
            <a:ext cx="3401568"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75320" y="3017520"/>
            <a:ext cx="2944368" cy="3108960"/>
          </a:xfrm>
          <a:prstGeom prst="rect">
            <a:avLst/>
          </a:prstGeom>
          <a:noFill/>
        </p:spPr>
        <p:txBody>
          <a:bodyPr wrap="square">
            <a:spAutoFit/>
          </a:bodyPr>
          <a:lstStyle/>
          <a:p>
            <a:pPr>
              <a:spcAft>
                <a:spcPts val="1000"/>
              </a:spcAft>
              <a:defRPr sz="1600" b="1">
                <a:solidFill>
                  <a:srgbClr val="2563EB"/>
                </a:solidFill>
              </a:defRPr>
            </a:pPr>
            <a:r>
              <a:t>AI Layer &amp; Storage (Honest Status)</a:t>
            </a:r>
          </a:p>
          <a:p>
            <a:pPr>
              <a:spcAft>
                <a:spcPts val="400"/>
              </a:spcAft>
              <a:defRPr sz="1100" b="1">
                <a:solidFill>
                  <a:srgbClr val="0F172A"/>
                </a:solidFill>
              </a:defRPr>
            </a:pPr>
            <a:r>
              <a:t>AI Mode: </a:t>
            </a:r>
          </a:p>
          <a:p>
            <a:pPr>
              <a:spcAft>
                <a:spcPts val="600"/>
              </a:spcAft>
              <a:defRPr sz="1100">
                <a:solidFill>
                  <a:srgbClr val="64748B"/>
                </a:solidFill>
              </a:defRPr>
            </a:pPr>
            <a:r>
              <a:t>  Deterministic Demo Mode default (zero paid key requirement)</a:t>
            </a:r>
          </a:p>
          <a:p>
            <a:pPr>
              <a:spcAft>
                <a:spcPts val="400"/>
              </a:spcAft>
              <a:defRPr sz="1100" b="1">
                <a:solidFill>
                  <a:srgbClr val="0F172A"/>
                </a:solidFill>
              </a:defRPr>
            </a:pPr>
            <a:r>
              <a:t>Live Provider: </a:t>
            </a:r>
          </a:p>
          <a:p>
            <a:pPr>
              <a:spcAft>
                <a:spcPts val="600"/>
              </a:spcAft>
              <a:defRPr sz="1100">
                <a:solidFill>
                  <a:srgbClr val="64748B"/>
                </a:solidFill>
              </a:defRPr>
            </a:pPr>
            <a:r>
              <a:t>  Pluggable Google Gemini API adapter configured</a:t>
            </a:r>
          </a:p>
          <a:p>
            <a:pPr>
              <a:spcAft>
                <a:spcPts val="400"/>
              </a:spcAft>
              <a:defRPr sz="1100" b="1">
                <a:solidFill>
                  <a:srgbClr val="0F172A"/>
                </a:solidFill>
              </a:defRPr>
            </a:pPr>
            <a:r>
              <a:t>Fallbacks: </a:t>
            </a:r>
          </a:p>
          <a:p>
            <a:pPr>
              <a:spcAft>
                <a:spcPts val="600"/>
              </a:spcAft>
              <a:defRPr sz="1100">
                <a:solidFill>
                  <a:srgbClr val="64748B"/>
                </a:solidFill>
              </a:defRPr>
            </a:pPr>
            <a:r>
              <a:t>  Graceful fallback if API key absent or limits exceeded</a:t>
            </a:r>
          </a:p>
          <a:p>
            <a:pPr>
              <a:spcAft>
                <a:spcPts val="400"/>
              </a:spcAft>
              <a:defRPr sz="1100" b="1">
                <a:solidFill>
                  <a:srgbClr val="0F172A"/>
                </a:solidFill>
              </a:defRPr>
            </a:pPr>
            <a:r>
              <a:t>Persistence: </a:t>
            </a:r>
          </a:p>
          <a:p>
            <a:pPr>
              <a:spcAft>
                <a:spcPts val="600"/>
              </a:spcAft>
              <a:defRPr sz="1100">
                <a:solidFill>
                  <a:srgbClr val="64748B"/>
                </a:solidFill>
              </a:defRPr>
            </a:pPr>
            <a:r>
              <a:t>  Server in-memory store with disk JSON backup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058400" cy="365760"/>
          </a:xfrm>
          <a:prstGeom prst="rect">
            <a:avLst/>
          </a:prstGeom>
          <a:noFill/>
        </p:spPr>
        <p:txBody>
          <a:bodyPr wrap="square" lIns="0" tIns="0" rIns="0" bIns="0">
            <a:spAutoFit/>
          </a:bodyPr>
          <a:lstStyle/>
          <a:p>
            <a:pPr>
              <a:defRPr sz="1100" b="1">
                <a:solidFill>
                  <a:srgbClr val="2563EB"/>
                </a:solidFill>
              </a:defRPr>
            </a:pPr>
            <a:r>
              <a:t>DEMONSTRATION &amp; RESULTS</a:t>
            </a:r>
          </a:p>
        </p:txBody>
      </p:sp>
      <p:sp>
        <p:nvSpPr>
          <p:cNvPr id="4" name="TextBox 3"/>
          <p:cNvSpPr txBox="1"/>
          <p:nvPr/>
        </p:nvSpPr>
        <p:spPr>
          <a:xfrm>
            <a:off x="731520" y="685800"/>
            <a:ext cx="10058400" cy="594360"/>
          </a:xfrm>
          <a:prstGeom prst="rect">
            <a:avLst/>
          </a:prstGeom>
          <a:noFill/>
        </p:spPr>
        <p:txBody>
          <a:bodyPr wrap="square" lIns="0" tIns="0" rIns="0" bIns="0">
            <a:spAutoFit/>
          </a:bodyPr>
          <a:lstStyle/>
          <a:p>
            <a:pPr>
              <a:defRPr sz="2400" b="1">
                <a:solidFill>
                  <a:srgbClr val="0F172A"/>
                </a:solidFill>
              </a:defRPr>
            </a:pPr>
            <a:r>
              <a:t>Demonstration &amp; Verified Test Results</a:t>
            </a:r>
          </a:p>
        </p:txBody>
      </p:sp>
      <p:sp>
        <p:nvSpPr>
          <p:cNvPr id="5" name="Rectangle 4"/>
          <p:cNvSpPr/>
          <p:nvPr/>
        </p:nvSpPr>
        <p:spPr>
          <a:xfrm>
            <a:off x="731520" y="13258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548640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737360"/>
            <a:ext cx="5029200" cy="4389120"/>
          </a:xfrm>
          <a:prstGeom prst="rect">
            <a:avLst/>
          </a:prstGeom>
          <a:noFill/>
        </p:spPr>
        <p:txBody>
          <a:bodyPr wrap="square">
            <a:spAutoFit/>
          </a:bodyPr>
          <a:lstStyle/>
          <a:p>
            <a:pPr>
              <a:spcAft>
                <a:spcPts val="1000"/>
              </a:spcAft>
              <a:defRPr sz="1400" b="1">
                <a:solidFill>
                  <a:srgbClr val="2563EB"/>
                </a:solidFill>
              </a:defRPr>
            </a:pPr>
            <a:r>
              <a:t>VERIFIED AI TUTOR INTERACTION FLOW</a:t>
            </a:r>
          </a:p>
          <a:p>
            <a:pPr>
              <a:spcAft>
                <a:spcPts val="200"/>
              </a:spcAft>
              <a:defRPr sz="1200" b="1">
                <a:solidFill>
                  <a:srgbClr val="0F172A"/>
                </a:solidFill>
              </a:defRPr>
            </a:pPr>
            <a:r>
              <a:t>1. PDF Document Upload</a:t>
            </a:r>
          </a:p>
          <a:p>
            <a:pPr>
              <a:spcAft>
                <a:spcPts val="800"/>
              </a:spcAft>
              <a:defRPr sz="1100">
                <a:solidFill>
                  <a:srgbClr val="64748B"/>
                </a:solidFill>
              </a:defRPr>
            </a:pPr>
            <a:r>
              <a:t>Upload Distributed Systems Consensus PDF (4 pages, processed via pdf-parse).</a:t>
            </a:r>
          </a:p>
          <a:p>
            <a:pPr>
              <a:spcAft>
                <a:spcPts val="200"/>
              </a:spcAft>
              <a:defRPr sz="1200" b="1">
                <a:solidFill>
                  <a:srgbClr val="0F172A"/>
                </a:solidFill>
              </a:defRPr>
            </a:pPr>
            <a:r>
              <a:t>2. Concept Grounding Query</a:t>
            </a:r>
          </a:p>
          <a:p>
            <a:pPr>
              <a:spcAft>
                <a:spcPts val="800"/>
              </a:spcAft>
              <a:defRPr sz="1100">
                <a:solidFill>
                  <a:srgbClr val="64748B"/>
                </a:solidFill>
              </a:defRPr>
            </a:pPr>
            <a:r>
              <a:t>Student asks: 'How many replicas are needed for Byzantine fault tolerance?'</a:t>
            </a:r>
          </a:p>
          <a:p>
            <a:pPr>
              <a:spcAft>
                <a:spcPts val="200"/>
              </a:spcAft>
              <a:defRPr sz="1200" b="1">
                <a:solidFill>
                  <a:srgbClr val="0F172A"/>
                </a:solidFill>
              </a:defRPr>
            </a:pPr>
            <a:r>
              <a:t>3. Source Verification</a:t>
            </a:r>
          </a:p>
          <a:p>
            <a:pPr>
              <a:spcAft>
                <a:spcPts val="800"/>
              </a:spcAft>
              <a:defRPr sz="1100">
                <a:solidFill>
                  <a:srgbClr val="64748B"/>
                </a:solidFill>
              </a:defRPr>
            </a:pPr>
            <a:r>
              <a:t>GroundingService identifies Page 2 evidence: 'PBFT requires 3f + 1 total replicas'.</a:t>
            </a:r>
          </a:p>
          <a:p>
            <a:pPr>
              <a:spcAft>
                <a:spcPts val="200"/>
              </a:spcAft>
              <a:defRPr sz="1200" b="1">
                <a:solidFill>
                  <a:srgbClr val="0F172A"/>
                </a:solidFill>
              </a:defRPr>
            </a:pPr>
            <a:r>
              <a:t>4. Grounded Citation Output</a:t>
            </a:r>
          </a:p>
          <a:p>
            <a:pPr>
              <a:spcAft>
                <a:spcPts val="800"/>
              </a:spcAft>
              <a:defRPr sz="1100">
                <a:solidFill>
                  <a:srgbClr val="64748B"/>
                </a:solidFill>
              </a:defRPr>
            </a:pPr>
            <a:r>
              <a:t>Returns verified citation: Distributed_Consensus.pdf -- Page 2 with exact excerpt.</a:t>
            </a:r>
          </a:p>
          <a:p>
            <a:pPr>
              <a:spcAft>
                <a:spcPts val="200"/>
              </a:spcAft>
              <a:defRPr sz="1200" b="1">
                <a:solidFill>
                  <a:srgbClr val="0F172A"/>
                </a:solidFill>
              </a:defRPr>
            </a:pPr>
            <a:r>
              <a:t>5. Hallucination Prevention</a:t>
            </a:r>
          </a:p>
          <a:p>
            <a:pPr>
              <a:spcAft>
                <a:spcPts val="800"/>
              </a:spcAft>
              <a:defRPr sz="1100">
                <a:solidFill>
                  <a:srgbClr val="64748B"/>
                </a:solidFill>
              </a:defRPr>
            </a:pPr>
            <a:r>
              <a:t>Unrelated query ('What is photosynthesis?') cleanly returns 'Insufficient Document Evidence' with null citation.</a:t>
            </a:r>
          </a:p>
        </p:txBody>
      </p:sp>
      <p:sp>
        <p:nvSpPr>
          <p:cNvPr id="8" name="Rounded Rectangle 7"/>
          <p:cNvSpPr/>
          <p:nvPr/>
        </p:nvSpPr>
        <p:spPr>
          <a:xfrm>
            <a:off x="6492240" y="1554480"/>
            <a:ext cx="4967935" cy="47548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20840" y="1737360"/>
            <a:ext cx="4480560" cy="4389120"/>
          </a:xfrm>
          <a:prstGeom prst="rect">
            <a:avLst/>
          </a:prstGeom>
          <a:noFill/>
        </p:spPr>
        <p:txBody>
          <a:bodyPr wrap="square">
            <a:spAutoFit/>
          </a:bodyPr>
          <a:lstStyle/>
          <a:p>
            <a:pPr>
              <a:spcAft>
                <a:spcPts val="1200"/>
              </a:spcAft>
              <a:defRPr sz="1400" b="1">
                <a:solidFill>
                  <a:srgbClr val="06B6D4"/>
                </a:solidFill>
              </a:defRPr>
            </a:pPr>
            <a:r>
              <a:t>RIGOROUS AUTOMATED TEST SUITE</a:t>
            </a:r>
          </a:p>
          <a:p>
            <a:pPr>
              <a:spcAft>
                <a:spcPts val="200"/>
              </a:spcAft>
              <a:defRPr sz="1200" b="1">
                <a:solidFill>
                  <a:srgbClr val="10B981"/>
                </a:solidFill>
              </a:defRPr>
            </a:pPr>
            <a:r>
              <a:t>Core Backend Unit Tests  |  20 / 20 PASSED</a:t>
            </a:r>
          </a:p>
          <a:p>
            <a:pPr>
              <a:spcAft>
                <a:spcPts val="800"/>
              </a:spcAft>
              <a:defRPr sz="1000">
                <a:solidFill>
                  <a:srgbClr val="CBD5E1"/>
                </a:solidFill>
              </a:defRPr>
            </a:pPr>
            <a:r>
              <a:t>Mastery decay, quiz scoring, PDF limits, citation grounding &amp; misconception follow-ups.</a:t>
            </a:r>
          </a:p>
          <a:p>
            <a:pPr>
              <a:spcAft>
                <a:spcPts val="200"/>
              </a:spcAft>
              <a:defRPr sz="1200" b="1">
                <a:solidFill>
                  <a:srgbClr val="10B981"/>
                </a:solidFill>
              </a:defRPr>
            </a:pPr>
            <a:r>
              <a:t>PDF Grounding &amp; Tutor Suite  |  6 / 6 PASSED</a:t>
            </a:r>
          </a:p>
          <a:p>
            <a:pPr>
              <a:spcAft>
                <a:spcPts val="800"/>
              </a:spcAft>
              <a:defRPr sz="1000">
                <a:solidFill>
                  <a:srgbClr val="CBD5E1"/>
                </a:solidFill>
              </a:defRPr>
            </a:pPr>
            <a:r>
              <a:t>Image-only slide rejection, prompt cleaning, honest fallback response.</a:t>
            </a:r>
          </a:p>
          <a:p>
            <a:pPr>
              <a:spcAft>
                <a:spcPts val="200"/>
              </a:spcAft>
              <a:defRPr sz="1200" b="1">
                <a:solidFill>
                  <a:srgbClr val="10B981"/>
                </a:solidFill>
              </a:defRPr>
            </a:pPr>
            <a:r>
              <a:t>Tutor Follow-Up &amp; History  |  4 / 4 PASSED</a:t>
            </a:r>
          </a:p>
          <a:p>
            <a:pPr>
              <a:spcAft>
                <a:spcPts val="800"/>
              </a:spcAft>
              <a:defRPr sz="1000">
                <a:solidFill>
                  <a:srgbClr val="CBD5E1"/>
                </a:solidFill>
              </a:defRPr>
            </a:pPr>
            <a:r>
              <a:t>Sequential questions, conversational context carryover &amp; CS topics.</a:t>
            </a:r>
          </a:p>
          <a:p>
            <a:pPr>
              <a:spcAft>
                <a:spcPts val="200"/>
              </a:spcAft>
              <a:defRPr sz="1200" b="1">
                <a:solidFill>
                  <a:srgbClr val="10B981"/>
                </a:solidFill>
              </a:defRPr>
            </a:pPr>
            <a:r>
              <a:t>Live End-to-End System Audit  |  11 / 11 PASSED</a:t>
            </a:r>
          </a:p>
          <a:p>
            <a:pPr>
              <a:spcAft>
                <a:spcPts val="800"/>
              </a:spcAft>
              <a:defRPr sz="1000">
                <a:solidFill>
                  <a:srgbClr val="CBD5E1"/>
                </a:solidFill>
              </a:defRPr>
            </a:pPr>
            <a:r>
              <a:t>Live HTTP endpoints, material upload, attempt logging &amp; persistence.</a:t>
            </a:r>
          </a:p>
          <a:p>
            <a:pPr>
              <a:spcAft>
                <a:spcPts val="200"/>
              </a:spcAft>
              <a:defRPr sz="1200" b="1">
                <a:solidFill>
                  <a:srgbClr val="10B981"/>
                </a:solidFill>
              </a:defRPr>
            </a:pPr>
            <a:r>
              <a:t>Frontend Production Build  |  100% SUCCESS</a:t>
            </a:r>
          </a:p>
          <a:p>
            <a:pPr>
              <a:spcAft>
                <a:spcPts val="800"/>
              </a:spcAft>
              <a:defRPr sz="1000">
                <a:solidFill>
                  <a:srgbClr val="CBD5E1"/>
                </a:solidFill>
              </a:defRPr>
            </a:pPr>
            <a:r>
              <a:t>Vite production bundle compiled cleanly in 8 seconds.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058400" cy="365760"/>
          </a:xfrm>
          <a:prstGeom prst="rect">
            <a:avLst/>
          </a:prstGeom>
          <a:noFill/>
        </p:spPr>
        <p:txBody>
          <a:bodyPr wrap="square" lIns="0" tIns="0" rIns="0" bIns="0">
            <a:spAutoFit/>
          </a:bodyPr>
          <a:lstStyle/>
          <a:p>
            <a:pPr>
              <a:defRPr sz="1100" b="1">
                <a:solidFill>
                  <a:srgbClr val="06B6D4"/>
                </a:solidFill>
              </a:defRPr>
            </a:pPr>
            <a:r>
              <a:t>IMPACT &amp; FUTURE SCOPE</a:t>
            </a:r>
          </a:p>
        </p:txBody>
      </p:sp>
      <p:sp>
        <p:nvSpPr>
          <p:cNvPr id="4" name="TextBox 3"/>
          <p:cNvSpPr txBox="1"/>
          <p:nvPr/>
        </p:nvSpPr>
        <p:spPr>
          <a:xfrm>
            <a:off x="731520" y="685800"/>
            <a:ext cx="10058400" cy="594360"/>
          </a:xfrm>
          <a:prstGeom prst="rect">
            <a:avLst/>
          </a:prstGeom>
          <a:noFill/>
        </p:spPr>
        <p:txBody>
          <a:bodyPr wrap="square" lIns="0" tIns="0" rIns="0" bIns="0">
            <a:spAutoFit/>
          </a:bodyPr>
          <a:lstStyle/>
          <a:p>
            <a:pPr>
              <a:defRPr sz="2400" b="1">
                <a:solidFill>
                  <a:srgbClr val="FFFFFF"/>
                </a:solidFill>
              </a:defRPr>
            </a:pPr>
            <a:r>
              <a:t>Educational Impact &amp; Future Roadmap</a:t>
            </a:r>
          </a:p>
        </p:txBody>
      </p:sp>
      <p:sp>
        <p:nvSpPr>
          <p:cNvPr id="5" name="Rectangle 4"/>
          <p:cNvSpPr/>
          <p:nvPr/>
        </p:nvSpPr>
        <p:spPr>
          <a:xfrm>
            <a:off x="731520" y="132588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600200"/>
            <a:ext cx="5120640" cy="3657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783080"/>
            <a:ext cx="4663440" cy="3291840"/>
          </a:xfrm>
          <a:prstGeom prst="rect">
            <a:avLst/>
          </a:prstGeom>
          <a:noFill/>
        </p:spPr>
        <p:txBody>
          <a:bodyPr wrap="square">
            <a:spAutoFit/>
          </a:bodyPr>
          <a:lstStyle/>
          <a:p>
            <a:pPr>
              <a:spcAft>
                <a:spcPts val="1200"/>
              </a:spcAft>
              <a:defRPr sz="1600" b="1">
                <a:solidFill>
                  <a:srgbClr val="06B6D4"/>
                </a:solidFill>
              </a:defRPr>
            </a:pPr>
            <a:r>
              <a:t>EXPECTED EDUCATIONAL IMPACT</a:t>
            </a:r>
          </a:p>
          <a:p>
            <a:pPr>
              <a:spcAft>
                <a:spcPts val="200"/>
              </a:spcAft>
              <a:defRPr sz="1200" b="1">
                <a:solidFill>
                  <a:srgbClr val="FFFFFF"/>
                </a:solidFill>
              </a:defRPr>
            </a:pPr>
            <a:r>
              <a:t>Organized Course Knowledge: </a:t>
            </a:r>
          </a:p>
          <a:p>
            <a:pPr>
              <a:spcAft>
                <a:spcPts val="600"/>
              </a:spcAft>
              <a:defRPr sz="1100">
                <a:solidFill>
                  <a:srgbClr val="94A3B8"/>
                </a:solidFill>
              </a:defRPr>
            </a:pPr>
            <a:r>
              <a:t>  Consolidates all fragmented PDF materials into a single searchable, citation-verified hub.</a:t>
            </a:r>
          </a:p>
          <a:p>
            <a:pPr>
              <a:spcAft>
                <a:spcPts val="200"/>
              </a:spcAft>
              <a:defRPr sz="1200" b="1">
                <a:solidFill>
                  <a:srgbClr val="FFFFFF"/>
                </a:solidFill>
              </a:defRPr>
            </a:pPr>
            <a:r>
              <a:t>Elimination of False Confidence: </a:t>
            </a:r>
          </a:p>
          <a:p>
            <a:pPr>
              <a:spcAft>
                <a:spcPts val="600"/>
              </a:spcAft>
              <a:defRPr sz="1100">
                <a:solidFill>
                  <a:srgbClr val="94A3B8"/>
                </a:solidFill>
              </a:defRPr>
            </a:pPr>
            <a:r>
              <a:t>  Zero hallucination guarantee means students only memorize facts actually in their syllabus.</a:t>
            </a:r>
          </a:p>
          <a:p>
            <a:pPr>
              <a:spcAft>
                <a:spcPts val="200"/>
              </a:spcAft>
              <a:defRPr sz="1200" b="1">
                <a:solidFill>
                  <a:srgbClr val="FFFFFF"/>
                </a:solidFill>
              </a:defRPr>
            </a:pPr>
            <a:r>
              <a:t>Targeted Remediation: </a:t>
            </a:r>
          </a:p>
          <a:p>
            <a:pPr>
              <a:spcAft>
                <a:spcPts val="600"/>
              </a:spcAft>
              <a:defRPr sz="1100">
                <a:solidFill>
                  <a:srgbClr val="94A3B8"/>
                </a:solidFill>
              </a:defRPr>
            </a:pPr>
            <a:r>
              <a:t>  Misconception Coach pinpoints the exact cognitive flaw instead of just marking an answer wrong.</a:t>
            </a:r>
          </a:p>
          <a:p>
            <a:pPr>
              <a:spcAft>
                <a:spcPts val="200"/>
              </a:spcAft>
              <a:defRPr sz="1200" b="1">
                <a:solidFill>
                  <a:srgbClr val="FFFFFF"/>
                </a:solidFill>
              </a:defRPr>
            </a:pPr>
            <a:r>
              <a:t>Consistent Retention: </a:t>
            </a:r>
          </a:p>
          <a:p>
            <a:pPr>
              <a:spcAft>
                <a:spcPts val="600"/>
              </a:spcAft>
              <a:defRPr sz="1100">
                <a:solidFill>
                  <a:srgbClr val="94A3B8"/>
                </a:solidFill>
              </a:defRPr>
            </a:pPr>
            <a:r>
              <a:t>  Decay-weighted study schedules keep older topics fresh before semester final exams.</a:t>
            </a:r>
          </a:p>
        </p:txBody>
      </p:sp>
      <p:sp>
        <p:nvSpPr>
          <p:cNvPr id="8" name="Rounded Rectangle 7"/>
          <p:cNvSpPr/>
          <p:nvPr/>
        </p:nvSpPr>
        <p:spPr>
          <a:xfrm>
            <a:off x="6217920" y="1600200"/>
            <a:ext cx="5242255" cy="3657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1783080"/>
            <a:ext cx="4754880" cy="3291840"/>
          </a:xfrm>
          <a:prstGeom prst="rect">
            <a:avLst/>
          </a:prstGeom>
          <a:noFill/>
        </p:spPr>
        <p:txBody>
          <a:bodyPr wrap="square">
            <a:spAutoFit/>
          </a:bodyPr>
          <a:lstStyle/>
          <a:p>
            <a:pPr>
              <a:spcAft>
                <a:spcPts val="1200"/>
              </a:spcAft>
              <a:defRPr sz="1600" b="1">
                <a:solidFill>
                  <a:srgbClr val="2563EB"/>
                </a:solidFill>
              </a:defRPr>
            </a:pPr>
            <a:r>
              <a:t>REALISTIC FUTURE ROADMAP</a:t>
            </a:r>
          </a:p>
          <a:p>
            <a:pPr>
              <a:spcAft>
                <a:spcPts val="200"/>
              </a:spcAft>
              <a:defRPr sz="1200" b="1">
                <a:solidFill>
                  <a:srgbClr val="FFFFFF"/>
                </a:solidFill>
              </a:defRPr>
            </a:pPr>
            <a:r>
              <a:t>Optical Character Recognition (OCR): </a:t>
            </a:r>
          </a:p>
          <a:p>
            <a:pPr>
              <a:spcAft>
                <a:spcPts val="600"/>
              </a:spcAft>
              <a:defRPr sz="1100">
                <a:solidFill>
                  <a:srgbClr val="94A3B8"/>
                </a:solidFill>
              </a:defRPr>
            </a:pPr>
            <a:r>
              <a:t>  Integrate Tesseract/OCR engine to extract digital text from scanned slides and handwritten lecture notes.</a:t>
            </a:r>
          </a:p>
          <a:p>
            <a:pPr>
              <a:spcAft>
                <a:spcPts val="200"/>
              </a:spcAft>
              <a:defRPr sz="1200" b="1">
                <a:solidFill>
                  <a:srgbClr val="FFFFFF"/>
                </a:solidFill>
              </a:defRPr>
            </a:pPr>
            <a:r>
              <a:t>Multi-Subject &amp; Syllabus Trees: </a:t>
            </a:r>
          </a:p>
          <a:p>
            <a:pPr>
              <a:spcAft>
                <a:spcPts val="600"/>
              </a:spcAft>
              <a:defRPr sz="1100">
                <a:solidFill>
                  <a:srgbClr val="94A3B8"/>
                </a:solidFill>
              </a:defRPr>
            </a:pPr>
            <a:r>
              <a:t>  Organize materials hierarchically by semester, course code, module, and specific lecture units.</a:t>
            </a:r>
          </a:p>
          <a:p>
            <a:pPr>
              <a:spcAft>
                <a:spcPts val="200"/>
              </a:spcAft>
              <a:defRPr sz="1200" b="1">
                <a:solidFill>
                  <a:srgbClr val="FFFFFF"/>
                </a:solidFill>
              </a:defRPr>
            </a:pPr>
            <a:r>
              <a:t>Live Multi-Provider AI Fallback: </a:t>
            </a:r>
          </a:p>
          <a:p>
            <a:pPr>
              <a:spcAft>
                <a:spcPts val="600"/>
              </a:spcAft>
              <a:defRPr sz="1100">
                <a:solidFill>
                  <a:srgbClr val="94A3B8"/>
                </a:solidFill>
              </a:defRPr>
            </a:pPr>
            <a:r>
              <a:t>  Dynamic switching between Gemini, OpenAI, and local Ollama models based on network availability.</a:t>
            </a:r>
          </a:p>
          <a:p>
            <a:pPr>
              <a:spcAft>
                <a:spcPts val="200"/>
              </a:spcAft>
              <a:defRPr sz="1200" b="1">
                <a:solidFill>
                  <a:srgbClr val="FFFFFF"/>
                </a:solidFill>
              </a:defRPr>
            </a:pPr>
            <a:r>
              <a:t>Collaborative Peer Study Rooms: </a:t>
            </a:r>
          </a:p>
          <a:p>
            <a:pPr>
              <a:spcAft>
                <a:spcPts val="600"/>
              </a:spcAft>
              <a:defRPr sz="1100">
                <a:solidFill>
                  <a:srgbClr val="94A3B8"/>
                </a:solidFill>
              </a:defRPr>
            </a:pPr>
            <a:r>
              <a:t>  Shared group quiz challenges and peer misconception discussions.</a:t>
            </a:r>
          </a:p>
        </p:txBody>
      </p:sp>
      <p:sp>
        <p:nvSpPr>
          <p:cNvPr id="10" name="Rounded Rectangle 9"/>
          <p:cNvSpPr/>
          <p:nvPr/>
        </p:nvSpPr>
        <p:spPr>
          <a:xfrm>
            <a:off x="731520" y="5440680"/>
            <a:ext cx="1072865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5532120"/>
            <a:ext cx="10241280" cy="868680"/>
          </a:xfrm>
          <a:prstGeom prst="rect">
            <a:avLst/>
          </a:prstGeom>
          <a:noFill/>
        </p:spPr>
        <p:txBody>
          <a:bodyPr wrap="square">
            <a:spAutoFit/>
          </a:bodyPr>
          <a:lstStyle/>
          <a:p>
            <a:pPr algn="ctr">
              <a:defRPr sz="2000" b="1">
                <a:solidFill>
                  <a:srgbClr val="FFFFFF"/>
                </a:solidFill>
              </a:defRPr>
            </a:pPr>
            <a:r>
              <a:t>Thank You for Your Time &amp; Consideration!</a:t>
            </a:r>
          </a:p>
          <a:p>
            <a:pPr algn="ctr">
              <a:defRPr sz="1200">
                <a:solidFill>
                  <a:srgbClr val="E0F2FE"/>
                </a:solidFill>
              </a:defRPr>
            </a:pPr>
            <a:r>
              <a:t>We welcome your questions, suggestions, and feedback on EduPilot AI. | Ready for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1440</Words>
  <Application>Microsoft Office PowerPoint</Application>
  <PresentationFormat>Widescreen</PresentationFormat>
  <Paragraphs>134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JOSEMON JAMES</cp:lastModifiedBy>
  <cp:revision>2</cp:revision>
  <dcterms:created xsi:type="dcterms:W3CDTF">2013-01-27T09:14:16Z</dcterms:created>
  <dcterms:modified xsi:type="dcterms:W3CDTF">2026-10-27T09:13:05Z</dcterms:modified>
  <cp:category/>
</cp:coreProperties>
</file>